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37160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齐鲁工业大学 · 机械工程学院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0"/>
            <a:ext cx="77724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露天矿区无人接驳小车系统设计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3931920"/>
            <a:ext cx="82296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43891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答辩人：张紫然    专业班级：机器人22-1    指导教师：李老师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035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583680"/>
            <a:ext cx="1051560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2A3A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8686800" cy="502920"/>
          </a:xfrm>
          <a:prstGeom prst="rect">
            <a:avLst/>
          </a:prstGeom>
          <a:solidFill>
            <a:srgbClr val="F0F4F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221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475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研究背景与问题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331720"/>
            <a:ext cx="8686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079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BBBBB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333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A2A3A"/>
                </a:solidFill>
                <a:latin typeface="Microsoft YaHei"/>
              </a:defRPr>
            </a:pPr>
            <a:r>
              <a:t>系统总体方案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017520"/>
            <a:ext cx="8686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0937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BBBBB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191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A2A3A"/>
                </a:solidFill>
                <a:latin typeface="Microsoft YaHei"/>
              </a:defRPr>
            </a:pPr>
            <a:r>
              <a:t>机械结构设计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703320"/>
            <a:ext cx="8686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779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BBBBB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8049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A2A3A"/>
                </a:solidFill>
                <a:latin typeface="Microsoft YaHei"/>
              </a:defRPr>
            </a:pPr>
            <a:r>
              <a:t>电控与传感器系统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389120"/>
            <a:ext cx="8686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465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BBBBB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4907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A2A3A"/>
                </a:solidFill>
                <a:latin typeface="Microsoft YaHei"/>
              </a:defRPr>
            </a:pPr>
            <a:r>
              <a:t>运动控制与导航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074920"/>
            <a:ext cx="8686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1511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BBBBB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1765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A2A3A"/>
                </a:solidFill>
                <a:latin typeface="Microsoft YaHei"/>
              </a:defRPr>
            </a:pPr>
            <a:r>
              <a:t>仿真验证与总结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Microsoft YaHei"/>
              </a:defRPr>
            </a:pPr>
            <a:r>
              <a:t>低空物流正在扩张，但末端接驳仍是薄弱环节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低空经济政策推动无人机配送在物流园区、矿区等场景加速落地</a:t>
            </a:r>
          </a:p>
          <a:p>
            <a:pPr algn="l">
              <a:defRPr sz="800" b="0">
                <a:solidFill>
                  <a:srgbClr val="566573"/>
                </a:solidFill>
                <a:latin typeface="Microsoft YaHei"/>
              </a:defRPr>
            </a:pPr>
          </a:p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无人机降落后的货物交接仍需大量人工参与</a:t>
            </a:r>
          </a:p>
          <a:p>
            <a:pPr algn="l">
              <a:defRPr sz="800" b="0">
                <a:solidFill>
                  <a:srgbClr val="566573"/>
                </a:solidFill>
                <a:latin typeface="Microsoft YaHei"/>
              </a:defRPr>
            </a:pPr>
          </a:p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矿区环境对人员不友好——高温、粉尘、偏远</a:t>
            </a:r>
          </a:p>
          <a:p>
            <a:pPr algn="l">
              <a:defRPr sz="800" b="0">
                <a:solidFill>
                  <a:srgbClr val="566573"/>
                </a:solidFill>
                <a:latin typeface="Microsoft YaHei"/>
              </a:defRPr>
            </a:pPr>
          </a:p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从"无人飞行"到"无人接驳"，最后一米尚未打通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457200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371600"/>
            <a:ext cx="4572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低空经济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023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国家战略性</a:t>
            </a:r>
            <a:br/>
            <a:r>
              <a:t>新兴产业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017520"/>
            <a:ext cx="457200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3017520"/>
            <a:ext cx="4572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20040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智慧物流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657600"/>
            <a:ext cx="4023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无人机+</a:t>
            </a:r>
            <a:br/>
            <a:r>
              <a:t>地面机器人协同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663440"/>
            <a:ext cx="457200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4663440"/>
            <a:ext cx="4572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846320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末端配送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303520"/>
            <a:ext cx="4023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最后1公里</a:t>
            </a:r>
            <a:br/>
            <a:r>
              <a:t>→最后1米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现存问题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566573"/>
                </a:solidFill>
                <a:latin typeface="Microsoft YaHei"/>
              </a:defRPr>
            </a:pPr>
            <a:r>
              <a:t>三个问题，一个都没绕开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47472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47472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2A3A"/>
                </a:solidFill>
                <a:latin typeface="Microsoft YaHei"/>
              </a:defRPr>
            </a:pPr>
            <a:r>
              <a:t>降落冲击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无人机丢货时冲击力大，</a:t>
            </a:r>
            <a:br/>
            <a:r>
              <a:t>可能损坏货物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影响：安全性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286000"/>
            <a:ext cx="347472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286000"/>
            <a:ext cx="347472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560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2A3A"/>
                </a:solidFill>
                <a:latin typeface="Microsoft YaHei"/>
              </a:defRPr>
            </a:pPr>
            <a:r>
              <a:t>定位偏差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200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GPS偏差1-2米，</a:t>
            </a:r>
            <a:br/>
            <a:r>
              <a:t>无人机与接驳平台对不准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206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影响：接驳精度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286000"/>
            <a:ext cx="347472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286000"/>
            <a:ext cx="347472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560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2A3A"/>
                </a:solidFill>
                <a:latin typeface="Microsoft YaHei"/>
              </a:defRPr>
            </a:pPr>
            <a:r>
              <a:t>人工对接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00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最后还是需要人搬一下，</a:t>
            </a:r>
            <a:br/>
            <a:r>
              <a:t>全流程自动化断裂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206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影响：效率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研究目标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300" b="1">
                <a:solidFill>
                  <a:srgbClr val="1A2A3A"/>
                </a:solidFill>
                <a:latin typeface="Microsoft YaHei"/>
              </a:defRPr>
            </a:pPr>
            <a:r>
              <a:t>设计一台能跑、能接、能找路的无人接驳小车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256032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256032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机械系统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四轮独立驱动底盘</a:t>
            </a:r>
            <a:br/>
            <a:r>
              <a:t>自动接驳装置</a:t>
            </a:r>
            <a:br/>
            <a:r>
              <a:t>SolidWorks三维建模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291840"/>
            <a:ext cx="256032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3291840"/>
            <a:ext cx="256032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控制系统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11480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工控机+PLC协同</a:t>
            </a:r>
            <a:br/>
            <a:r>
              <a:t>传感器选型与布局</a:t>
            </a:r>
            <a:br/>
            <a:r>
              <a:t>I/O点位与时序逻辑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291840"/>
            <a:ext cx="256032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291840"/>
            <a:ext cx="256032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运动控制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麦克纳姆轮运动学</a:t>
            </a:r>
            <a:br/>
            <a:r>
              <a:t>前馈+PID闭环调速</a:t>
            </a:r>
            <a:br/>
            <a:r>
              <a:t>精准启停控制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3291840"/>
            <a:ext cx="256032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3291840"/>
            <a:ext cx="2560320" cy="50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35661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导航系统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411480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激光SLAM建图</a:t>
            </a:r>
            <a:br/>
            <a:r>
              <a:t>A*全局路径规划</a:t>
            </a:r>
            <a:br/>
            <a:r>
              <a:t>DWA局部避障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系统总体方案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三大系统，层层配合——机械负责"站稳接住"，控制负责"听话执行"，导航负责"找到路"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601200" cy="1097280"/>
          </a:xfrm>
          <a:prstGeom prst="rect">
            <a:avLst/>
          </a:prstGeom>
          <a:solidFill>
            <a:srgbClr val="F7F9FC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感知与导航层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6596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激光雷达 → SLAM建图 → A*全局路径 → DWA局部避障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9601200" cy="1097280"/>
          </a:xfrm>
          <a:prstGeom prst="rect">
            <a:avLst/>
          </a:prstGeom>
          <a:solidFill>
            <a:srgbClr val="F7F9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控制层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3756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工控机（上位机·跑ROS）↕ Modbus/TCP ↕ PLC（下位机·管执行）→ 电机驱动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9601200" cy="1097280"/>
          </a:xfrm>
          <a:prstGeom prst="rect">
            <a:avLst/>
          </a:prstGeom>
          <a:solidFill>
            <a:srgbClr val="F7F9FC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机械层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0916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麦克纳姆轮底盘 + 自动缓冲纠偏接驳装置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4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r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38673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25603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A2A3A"/>
                </a:solidFill>
                <a:latin typeface="Microsoft YaHei"/>
              </a:defRPr>
            </a:pPr>
            <a:r>
              <a:t>机械结构设计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109728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麦克纳姆轮底盘 · 自动接驳装置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麦克纳姆轮底盘设计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全向移动：前后左右+斜向，无需转弯半径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四轮独立驱动：四个直流无刷电机各控一轮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轻量化框架：减重同时保证结构强度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· 适合矿区狭窄道路和复杂地面条件</a:t>
            </a:r>
          </a:p>
        </p:txBody>
      </p:sp>
      <p:pic>
        <p:nvPicPr>
          <p:cNvPr id="8" name="Picture 7" descr="car-chas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114800" cy="2399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自动接驳装置——全文核心创新点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566573"/>
                </a:solidFill>
                <a:latin typeface="Microsoft YaHei"/>
              </a:defRPr>
            </a:pPr>
            <a:r>
              <a:t>一个装置，同时解决三个问题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383280" cy="2286000"/>
          </a:xfrm>
          <a:prstGeom prst="rect">
            <a:avLst/>
          </a:prstGeom>
          <a:solidFill>
            <a:srgbClr val="F7F9FC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A2A3A"/>
                </a:solidFill>
                <a:latin typeface="Microsoft YaHei"/>
              </a:defRPr>
            </a:pPr>
            <a:r>
              <a:t>缓冲吸能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弹簧/橡胶阻尼结构</a:t>
            </a:r>
            <a:br/>
            <a:r>
              <a:t>吸收降落冲击力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920240"/>
            <a:ext cx="3383280" cy="2286000"/>
          </a:xfrm>
          <a:prstGeom prst="rect">
            <a:avLst/>
          </a:prstGeom>
          <a:solidFill>
            <a:srgbClr val="F7F9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1031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A2A3A"/>
                </a:solidFill>
                <a:latin typeface="Microsoft YaHei"/>
              </a:defRPr>
            </a:pPr>
            <a:r>
              <a:t>侧向纠偏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65176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可摆动托板 ±30mm</a:t>
            </a:r>
            <a:br/>
            <a:r>
              <a:t>补偿定位偏差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9" y="1920240"/>
            <a:ext cx="3383280" cy="2286000"/>
          </a:xfrm>
          <a:prstGeom prst="rect">
            <a:avLst/>
          </a:prstGeom>
          <a:solidFill>
            <a:srgbClr val="F7F9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21031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A2A3A"/>
                </a:solidFill>
                <a:latin typeface="Microsoft YaHei"/>
              </a:defRPr>
            </a:pPr>
            <a:r>
              <a:t>自锁固定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65176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机械卡扣自锁</a:t>
            </a:r>
            <a:br/>
            <a:r>
              <a:t>运输中货物不滑落</a:t>
            </a:r>
          </a:p>
        </p:txBody>
      </p:sp>
      <p:pic>
        <p:nvPicPr>
          <p:cNvPr id="14" name="Picture 13" descr="car-do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572000"/>
            <a:ext cx="4114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475488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设计工具：SolidWorks 三维建模，明确装配关系与关键安装位置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4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A2A3A"/>
                </a:solidFill>
                <a:latin typeface="Microsoft YaHei"/>
              </a:defRPr>
            </a:pPr>
            <a:r>
              <a:t>电控与传感器系统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383280"/>
            <a:ext cx="109728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工控机 + PLC 双级控制架构 · 安全互锁与传感器布局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电控系统架构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645920"/>
            <a:ext cx="640080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7373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工控机（上位机 · ROS 导航算法）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6032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980B9"/>
                </a:solidFill>
                <a:latin typeface="Microsoft YaHei"/>
              </a:defRPr>
            </a:pPr>
            <a:r>
              <a:t>↕ TCP/Modbus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017520"/>
            <a:ext cx="6400800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1089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PLC（下位机 · 逻辑控制 · 安全互锁）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电机驱动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657600"/>
            <a:ext cx="25400" cy="274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023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传感器 &amp; 继电器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657600"/>
            <a:ext cx="25400" cy="274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023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电磁锁 &amp; 指示灯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57600"/>
            <a:ext cx="25400" cy="274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· 传感器配置：2D激光雷达 + IMU + 轮式里程计 + 超声波传感器</a:t>
            </a:r>
            <a:br/>
            <a:r>
              <a:t>· I/O规划：数字量输入×16 / 数字量输出×12 / 模拟量输入×4</a:t>
            </a:r>
            <a:br/>
            <a:r>
              <a:t>· 电源系统：48V动力电池 → DC-DC → 24V（控制）/ 12V（传感器）/ 5V（工控机）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接驳作业时序逻辑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463040" cy="1645920"/>
          </a:xfrm>
          <a:prstGeom prst="rect">
            <a:avLst/>
          </a:prstGeom>
          <a:solidFill>
            <a:srgbClr val="F7F9FC"/>
          </a:solidFill>
          <a:ln w="190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28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① 到达</a:t>
            </a:r>
            <a:br/>
            <a:r>
              <a:t>指定点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286000"/>
            <a:ext cx="1463040" cy="1645920"/>
          </a:xfrm>
          <a:prstGeom prst="rect">
            <a:avLst/>
          </a:prstGeom>
          <a:solidFill>
            <a:srgbClr val="F7F9FC"/>
          </a:solidFill>
          <a:ln w="190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2468880"/>
            <a:ext cx="128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② 粗定位</a:t>
            </a:r>
            <a:br/>
            <a:r>
              <a:t>GPS引导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92608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286000"/>
            <a:ext cx="1463040" cy="1645920"/>
          </a:xfrm>
          <a:prstGeom prst="rect">
            <a:avLst/>
          </a:prstGeom>
          <a:solidFill>
            <a:srgbClr val="F7F9FC"/>
          </a:solidFill>
          <a:ln w="190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68880"/>
            <a:ext cx="128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③ 微调</a:t>
            </a:r>
            <a:br/>
            <a:r>
              <a:t>激光对准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92608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286000"/>
            <a:ext cx="1463040" cy="1645920"/>
          </a:xfrm>
          <a:prstGeom prst="rect">
            <a:avLst/>
          </a:prstGeom>
          <a:solidFill>
            <a:srgbClr val="F7F9FC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2468880"/>
            <a:ext cx="128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2A3A"/>
                </a:solidFill>
                <a:latin typeface="Microsoft YaHei"/>
              </a:defRPr>
            </a:pPr>
            <a:r>
              <a:t>④ 接货台</a:t>
            </a:r>
            <a:br/>
            <a:r>
              <a:t>升起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92608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286000"/>
            <a:ext cx="1463040" cy="1645920"/>
          </a:xfrm>
          <a:prstGeom prst="rect">
            <a:avLst/>
          </a:prstGeom>
          <a:solidFill>
            <a:srgbClr val="F7F9FC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468880"/>
            <a:ext cx="128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2A3A"/>
                </a:solidFill>
                <a:latin typeface="Microsoft YaHei"/>
              </a:defRPr>
            </a:pPr>
            <a:r>
              <a:t>⑤ 锁紧</a:t>
            </a:r>
            <a:br/>
            <a:r>
              <a:t>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2608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286000"/>
            <a:ext cx="1463040" cy="1645920"/>
          </a:xfrm>
          <a:prstGeom prst="rect">
            <a:avLst/>
          </a:prstGeom>
          <a:solidFill>
            <a:srgbClr val="F7F9FC"/>
          </a:solidFill>
          <a:ln w="190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468880"/>
            <a:ext cx="128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⑥ 运输</a:t>
            </a:r>
            <a:br/>
            <a:r>
              <a:t>至卸货点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292608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2286000"/>
            <a:ext cx="1463040" cy="1645920"/>
          </a:xfrm>
          <a:prstGeom prst="rect">
            <a:avLst/>
          </a:prstGeom>
          <a:solidFill>
            <a:srgbClr val="F7F9FC"/>
          </a:solidFill>
          <a:ln w="190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2468880"/>
            <a:ext cx="128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566573"/>
                </a:solidFill>
                <a:latin typeface="Microsoft YaHei"/>
              </a:defRPr>
            </a:pPr>
            <a:r>
              <a:t>⑦ 复位</a:t>
            </a:r>
            <a:br/>
            <a:r>
              <a:t>待命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PLC 梯形图实现顺序控制逻辑，每步依次触发，上一步未完成则下一步不启动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麦克纳姆轮运动学模型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566573"/>
                </a:solidFill>
                <a:latin typeface="Microsoft YaHei"/>
              </a:defRPr>
            </a:pPr>
            <a:r>
              <a:t>核心问题：四个轮子转速不一样才能走直线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2A3A"/>
                </a:solidFill>
                <a:latin typeface="Microsoft YaHei"/>
              </a:defRPr>
            </a:pPr>
            <a:r>
              <a:t>逆运动学公式（给定车速 → 各轮转速）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ωᵢ = (vₓ ± vᵧ ± ωz · L) / R</a:t>
            </a:r>
            <a:br/>
            <a:br/>
            <a:r>
              <a:t>其中：vₓ,vᵧ 为期望速度分量，ωz 为旋转角速度</a:t>
            </a:r>
            <a:br/>
            <a:r>
              <a:t>L 为轮距参数，R 为轮半径，i=1,2,3,4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速度匹配关系推导结果：</a:t>
            </a:r>
            <a:br/>
            <a:r>
              <a:t>· 直行：四个轮等速同向</a:t>
            </a:r>
            <a:br/>
            <a:r>
              <a:t>· 横移：对角轮等速反向</a:t>
            </a:r>
            <a:br/>
            <a:r>
              <a:t>· 原地旋转：同侧轮反向</a:t>
            </a:r>
            <a:br/>
            <a:r>
              <a:t>· 斜行：内外轮速差补偿</a:t>
            </a:r>
            <a:br/>
            <a:br/>
            <a:r>
              <a:t>模型用于后续 PID 控制的目标值设定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PID 转速闭环控制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00" cy="1645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583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目标转速  →  [前馈补偿（理论值）]  →  [PID控制器]  →  [直流电机模型]  →  实际转速</a:t>
            </a:r>
            <a:br/>
            <a:r>
              <a:t>                           ↑                                              ↓</a:t>
            </a:r>
            <a:br/>
            <a:r>
              <a:t>                           └────────── 转速反馈（编码器） 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仿真结果（MATLAB）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256032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980B9"/>
                </a:solidFill>
                <a:latin typeface="Microsoft YaHei"/>
              </a:defRPr>
            </a:pPr>
            <a:r>
              <a:t>&lt; 0.1s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上升时间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023360"/>
            <a:ext cx="256032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980B9"/>
                </a:solidFill>
                <a:latin typeface="Microsoft YaHei"/>
              </a:defRPr>
            </a:pPr>
            <a:r>
              <a:t>&lt; 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6634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超调量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023360"/>
            <a:ext cx="256032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980B9"/>
                </a:solidFill>
                <a:latin typeface="Microsoft YaHei"/>
              </a:defRPr>
            </a:pPr>
            <a:r>
              <a:t>&lt; 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6634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稳态误差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4023360"/>
            <a:ext cx="256032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980B9"/>
                </a:solidFill>
                <a:latin typeface="Microsoft YaHei"/>
              </a:defRPr>
            </a:pPr>
            <a:r>
              <a:t>~40%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6634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响应时间减少</a:t>
            </a:r>
            <a:br/>
            <a:r>
              <a:t>（vs纯PID）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结论：前馈补偿+PID双层控制策略有效——响应更快，超调可控，稳态精度满足工程要求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3A"/>
                </a:solidFill>
                <a:latin typeface="Microsoft YaHei"/>
              </a:defRPr>
            </a:pPr>
            <a:r>
              <a:t>仿真结果验证——PID 与路径规划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A3A"/>
                </a:solidFill>
                <a:latin typeface="Microsoft YaHei"/>
              </a:defRPr>
            </a:pPr>
            <a:r>
              <a:t>PID 阶跃响应曲线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5603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[论文图5-5：阶跃响应]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A3A"/>
                </a:solidFill>
                <a:latin typeface="Microsoft YaHei"/>
              </a:defRPr>
            </a:pPr>
            <a:r>
              <a:t>PID 跟踪响应曲线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5603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[论文图5-6：跟踪响应]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A3A"/>
                </a:solidFill>
                <a:latin typeface="Microsoft YaHei"/>
              </a:defRPr>
            </a:pPr>
            <a:r>
              <a:t>传统 A* 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5212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[论文图6-5：传统A*]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A3A"/>
                </a:solidFill>
                <a:latin typeface="Microsoft YaHei"/>
              </a:defRPr>
            </a:pPr>
            <a:r>
              <a:t>改进 A* 平滑路径（B样条优化）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5212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[论文图6-6：改进A*]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SLAM 建图与导航系统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566573"/>
                </a:solidFill>
                <a:latin typeface="Microsoft YaHei"/>
              </a:defRPr>
            </a:pPr>
            <a:r>
              <a:t>多传感器融合定位 + 分层路径规划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474720" cy="3657600"/>
          </a:xfrm>
          <a:prstGeom prst="rect">
            <a:avLst/>
          </a:prstGeom>
          <a:solidFill>
            <a:srgbClr val="F7F9FC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Microsoft YaHei"/>
              </a:defRPr>
            </a:pPr>
            <a:r>
              <a:t>SLAM 建图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9260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· 2D激光雷达扫描环境</a:t>
            </a:r>
            <a:br/>
            <a:r>
              <a:t>· IMU提供姿态角</a:t>
            </a:r>
            <a:br/>
            <a:r>
              <a:t>· 轮式里程计推算位移</a:t>
            </a:r>
            <a:br/>
            <a:r>
              <a:t>· Cartographer算法融合</a:t>
            </a:r>
            <a:br/>
            <a:r>
              <a:t>→ 输出：二维栅格地图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103120"/>
            <a:ext cx="3474720" cy="3657600"/>
          </a:xfrm>
          <a:prstGeom prst="rect">
            <a:avLst/>
          </a:prstGeom>
          <a:solidFill>
            <a:srgbClr val="F7F9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Microsoft YaHei"/>
              </a:defRPr>
            </a:pPr>
            <a:r>
              <a:t>A* 全局路径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29260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· 栅格地图建模</a:t>
            </a:r>
            <a:br/>
            <a:r>
              <a:t>· 启发式搜索最短路径</a:t>
            </a:r>
            <a:br/>
            <a:r>
              <a:t>· B样条平滑处理</a:t>
            </a:r>
            <a:br/>
            <a:r>
              <a:t>· 去除冗余节点</a:t>
            </a:r>
            <a:br/>
            <a:r>
              <a:t>→ 输出：平滑全局路径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103120"/>
            <a:ext cx="3474720" cy="3657600"/>
          </a:xfrm>
          <a:prstGeom prst="rect">
            <a:avLst/>
          </a:prstGeom>
          <a:solidFill>
            <a:srgbClr val="F7F9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Microsoft YaHei"/>
              </a:defRPr>
            </a:pPr>
            <a:r>
              <a:t>DWA 局部避障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834640"/>
            <a:ext cx="29260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· 实时速度空间采样</a:t>
            </a:r>
            <a:br/>
            <a:r>
              <a:t>· 多轨迹评分</a:t>
            </a:r>
            <a:br/>
            <a:r>
              <a:t>· 动态障碍物规避</a:t>
            </a:r>
            <a:br/>
            <a:r>
              <a:t>· 对接停靠精度控制</a:t>
            </a:r>
            <a:br/>
            <a:r>
              <a:t>→ 输出：实时速度指令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601200" cy="1371600"/>
          </a:xfrm>
          <a:prstGeom prst="rect">
            <a:avLst/>
          </a:prstGeom>
          <a:solidFill>
            <a:srgbClr val="F7F9FC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980B9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830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缓冲纠偏一体化</a:t>
            </a:r>
            <a:br/>
            <a:r>
              <a:t>接驳装置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92024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同时解决降落冲击、定位偏差和货物固定三个问题，</a:t>
            </a:r>
            <a:br/>
            <a:r>
              <a:t>不是分开处理，而是单一装置集成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46120"/>
            <a:ext cx="9601200" cy="1371600"/>
          </a:xfrm>
          <a:prstGeom prst="rect">
            <a:avLst/>
          </a:prstGeom>
          <a:solidFill>
            <a:srgbClr val="F7F9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290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7AE6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832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前馈 + PID</a:t>
            </a:r>
            <a:br/>
            <a:r>
              <a:t>双层调速策略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52044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前馈计算理论值直接输出，PID只修正偏差，</a:t>
            </a:r>
            <a:br/>
            <a:r>
              <a:t>响应时间比纯PID减少约40%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846320"/>
            <a:ext cx="9601200" cy="1371600"/>
          </a:xfrm>
          <a:prstGeom prst="rect">
            <a:avLst/>
          </a:prstGeom>
          <a:solidFill>
            <a:srgbClr val="F7F9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0292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9834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Microsoft YaHei"/>
              </a:defRPr>
            </a:pPr>
            <a:r>
              <a:t>A* 平滑 + DWA</a:t>
            </a:r>
            <a:br/>
            <a:r>
              <a:t>分层导航架构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12064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全局路径最优 + 局部实时避障，</a:t>
            </a:r>
            <a:br/>
            <a:r>
              <a:t>B样条平滑去除折线拐点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研究总结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4630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完成整车 SolidWorks 三维建模，装配关系验证通过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574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设计缓冲纠偏一体化接驳装置（核心创新）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517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搭建 PLC + 工控机电控架构，I/O规划与时序逻辑完成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2461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PID 仿真验证：超调量 &lt; 5%，响应时间 &lt; 0.1s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404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t>A* + DWA 路径规划仿真通过，路径平滑有效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754880"/>
            <a:ext cx="9144000" cy="2540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52页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论文篇幅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029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28篇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3949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参考文献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029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3项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5029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SolidWorks</a:t>
            </a:r>
            <a:br/>
            <a:r>
              <a:t>+MATLAB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949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66573"/>
                </a:solidFill>
                <a:latin typeface="Microsoft YaHei"/>
              </a:defRPr>
            </a:pPr>
            <a:r>
              <a:t>工具链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2A3A"/>
                </a:solidFill>
                <a:latin typeface="Microsoft YaHei"/>
              </a:defRPr>
            </a:pPr>
            <a:r>
              <a:t>不足与展望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601200" cy="13258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只做仿真</a:t>
            </a:r>
            <a:br/>
            <a:r>
              <a:t>未造实物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83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条件允许时制作1:5缩比样机</a:t>
            </a:r>
            <a:br/>
            <a:r>
              <a:t>进行实物测试验证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9601200" cy="13258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矿区工况</a:t>
            </a:r>
            <a:br/>
            <a:r>
              <a:t>仅考虑平地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33756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747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后续加入坡度识别</a:t>
            </a:r>
            <a:br/>
            <a:r>
              <a:t>和功率补偿算法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754880"/>
            <a:ext cx="9601200" cy="13258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93776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SLAM仅在</a:t>
            </a:r>
            <a:br/>
            <a:r>
              <a:t>室内环境测试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892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498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02920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566573"/>
                </a:solidFill>
                <a:latin typeface="Microsoft YaHei"/>
              </a:defRPr>
            </a:pPr>
            <a:r>
              <a:t>实际露天矿区环境</a:t>
            </a:r>
            <a:br/>
            <a:r>
              <a:t>进行现场建图验证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BBBBBB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37160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感谢各位老师，请批评指正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18288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张紫然  ·  机器人22-1  ·  齐鲁工业大学机械工程学院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035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583680"/>
            <a:ext cx="1051560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